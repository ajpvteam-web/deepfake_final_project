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30040"/>
            <a:ext cx="7717320" cy="247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-565200" y="-46260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2;p2"/>
          <p:cNvSpPr/>
          <p:nvPr/>
        </p:nvSpPr>
        <p:spPr>
          <a:xfrm>
            <a:off x="3799800" y="460872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413000"/>
            <a:ext cx="6575760" cy="182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57;p11"/>
          <p:cNvSpPr/>
          <p:nvPr/>
        </p:nvSpPr>
        <p:spPr>
          <a:xfrm>
            <a:off x="1595880" y="-462600"/>
            <a:ext cx="59515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58;p11"/>
          <p:cNvSpPr/>
          <p:nvPr/>
        </p:nvSpPr>
        <p:spPr>
          <a:xfrm rot="21599400">
            <a:off x="1595880" y="4608360"/>
            <a:ext cx="59515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2800" y="204768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589840" y="145440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782960" y="204768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850360" y="145440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1522800" y="368964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2589840" y="309636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4782960" y="368964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5850360" y="309636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Google Shape;74;p13"/>
          <p:cNvSpPr/>
          <p:nvPr/>
        </p:nvSpPr>
        <p:spPr>
          <a:xfrm rot="5400000">
            <a:off x="-2062440" y="2056680"/>
            <a:ext cx="40359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75;p13"/>
          <p:cNvSpPr/>
          <p:nvPr/>
        </p:nvSpPr>
        <p:spPr>
          <a:xfrm rot="5400000">
            <a:off x="7170840" y="2056680"/>
            <a:ext cx="40359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Google Shape;78;p14"/>
          <p:cNvSpPr/>
          <p:nvPr/>
        </p:nvSpPr>
        <p:spPr>
          <a:xfrm>
            <a:off x="-796320" y="-462600"/>
            <a:ext cx="22021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79;p14"/>
          <p:cNvSpPr/>
          <p:nvPr/>
        </p:nvSpPr>
        <p:spPr>
          <a:xfrm rot="5400000">
            <a:off x="7831080" y="-462240"/>
            <a:ext cx="22021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1469880"/>
            <a:ext cx="2997720" cy="15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83;p15"/>
          <p:cNvSpPr/>
          <p:nvPr/>
        </p:nvSpPr>
        <p:spPr>
          <a:xfrm>
            <a:off x="71316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84;p15"/>
          <p:cNvSpPr/>
          <p:nvPr/>
        </p:nvSpPr>
        <p:spPr>
          <a:xfrm>
            <a:off x="548856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32760" y="1451880"/>
            <a:ext cx="2997720" cy="15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Google Shape;88;p16"/>
          <p:cNvSpPr/>
          <p:nvPr/>
        </p:nvSpPr>
        <p:spPr>
          <a:xfrm>
            <a:off x="552744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Google Shape;89;p16"/>
          <p:cNvSpPr/>
          <p:nvPr/>
        </p:nvSpPr>
        <p:spPr>
          <a:xfrm>
            <a:off x="71316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9960" y="2855160"/>
            <a:ext cx="4563720" cy="6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Google Shape;93;p17"/>
          <p:cNvSpPr/>
          <p:nvPr/>
        </p:nvSpPr>
        <p:spPr>
          <a:xfrm>
            <a:off x="3053160" y="-57060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E7E4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Google Shape;94;p17"/>
          <p:cNvSpPr/>
          <p:nvPr/>
        </p:nvSpPr>
        <p:spPr>
          <a:xfrm>
            <a:off x="3053160" y="4560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230800" y="1648800"/>
            <a:ext cx="3199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98;p18"/>
          <p:cNvSpPr/>
          <p:nvPr/>
        </p:nvSpPr>
        <p:spPr>
          <a:xfrm>
            <a:off x="641340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99;p18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104;p19"/>
          <p:cNvSpPr/>
          <p:nvPr/>
        </p:nvSpPr>
        <p:spPr>
          <a:xfrm rot="5400000">
            <a:off x="-1171800" y="29275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05;p19"/>
          <p:cNvSpPr/>
          <p:nvPr/>
        </p:nvSpPr>
        <p:spPr>
          <a:xfrm rot="5400000">
            <a:off x="7957440" y="121824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34038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60876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114;p20"/>
          <p:cNvSpPr/>
          <p:nvPr/>
        </p:nvSpPr>
        <p:spPr>
          <a:xfrm>
            <a:off x="-130392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15;p20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391840" y="256140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2996640" y="1262160"/>
            <a:ext cx="3150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7;p3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18;p3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354320" y="178632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5057280" y="178632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1354320" y="321948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5057280" y="321948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Google Shape;126;p21"/>
          <p:cNvSpPr/>
          <p:nvPr/>
        </p:nvSpPr>
        <p:spPr>
          <a:xfrm>
            <a:off x="-738360" y="5396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27;p21"/>
          <p:cNvSpPr/>
          <p:nvPr/>
        </p:nvSpPr>
        <p:spPr>
          <a:xfrm>
            <a:off x="6978960" y="5396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836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353268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109836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353268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title"/>
          </p:nvPr>
        </p:nvSpPr>
        <p:spPr>
          <a:xfrm>
            <a:off x="596664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title"/>
          </p:nvPr>
        </p:nvSpPr>
        <p:spPr>
          <a:xfrm>
            <a:off x="596664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7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Google Shape;142;p22"/>
          <p:cNvSpPr/>
          <p:nvPr/>
        </p:nvSpPr>
        <p:spPr>
          <a:xfrm rot="5400000">
            <a:off x="-1171800" y="121824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43;p22"/>
          <p:cNvSpPr/>
          <p:nvPr/>
        </p:nvSpPr>
        <p:spPr>
          <a:xfrm rot="5400000">
            <a:off x="7957440" y="29275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51640" y="143892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5854680" y="193608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5854680" y="293004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title"/>
          </p:nvPr>
        </p:nvSpPr>
        <p:spPr>
          <a:xfrm>
            <a:off x="1151640" y="243288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Google Shape;154;p23"/>
          <p:cNvSpPr/>
          <p:nvPr/>
        </p:nvSpPr>
        <p:spPr>
          <a:xfrm>
            <a:off x="-45792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55;p23"/>
          <p:cNvSpPr/>
          <p:nvPr/>
        </p:nvSpPr>
        <p:spPr>
          <a:xfrm>
            <a:off x="669852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title"/>
          </p:nvPr>
        </p:nvSpPr>
        <p:spPr>
          <a:xfrm>
            <a:off x="1151280" y="342720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135520" y="563400"/>
            <a:ext cx="4872960" cy="104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3" name="Google Shape;161;p24"/>
          <p:cNvSpPr/>
          <p:nvPr/>
        </p:nvSpPr>
        <p:spPr>
          <a:xfrm>
            <a:off x="2555280" y="3617640"/>
            <a:ext cx="40334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CREDITS: This presentation template was created by </a:t>
            </a:r>
            <a:r>
              <a:rPr lang="en" sz="1000" b="1" u="sng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2"/>
              </a:rPr>
              <a:t>Slidesgo</a:t>
            </a:r>
            <a:r>
              <a:rPr lang="en" sz="1000" b="0" u="none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, and includes icons by </a:t>
            </a:r>
            <a:r>
              <a:rPr lang="en" sz="1000" b="1" u="sng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3"/>
              </a:rPr>
              <a:t>Flaticon</a:t>
            </a:r>
            <a:r>
              <a:rPr lang="en" sz="1000" b="0" u="none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 and infographics &amp; images by </a:t>
            </a:r>
            <a:r>
              <a:rPr lang="en" sz="1000" b="1" u="sng" strike="noStrike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62;p24"/>
          <p:cNvSpPr/>
          <p:nvPr/>
        </p:nvSpPr>
        <p:spPr>
          <a:xfrm rot="5400000">
            <a:off x="-948600" y="193680"/>
            <a:ext cx="43264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Google Shape;163;p24"/>
          <p:cNvSpPr/>
          <p:nvPr/>
        </p:nvSpPr>
        <p:spPr>
          <a:xfrm rot="5400000">
            <a:off x="5766840" y="3947760"/>
            <a:ext cx="43264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66;p25"/>
          <p:cNvSpPr/>
          <p:nvPr/>
        </p:nvSpPr>
        <p:spPr>
          <a:xfrm>
            <a:off x="-565200" y="-46260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167;p25"/>
          <p:cNvSpPr/>
          <p:nvPr/>
        </p:nvSpPr>
        <p:spPr>
          <a:xfrm>
            <a:off x="3799800" y="460872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69;p26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170;p26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2194920" y="1457280"/>
            <a:ext cx="4754160" cy="29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Google Shape;22;p4"/>
          <p:cNvSpPr/>
          <p:nvPr/>
        </p:nvSpPr>
        <p:spPr>
          <a:xfrm rot="5400000">
            <a:off x="-187200" y="4401720"/>
            <a:ext cx="25549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E7E4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23;p4"/>
          <p:cNvSpPr/>
          <p:nvPr/>
        </p:nvSpPr>
        <p:spPr>
          <a:xfrm rot="5400000">
            <a:off x="6777000" y="4401720"/>
            <a:ext cx="25549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" name="Google Shape;30;p5"/>
          <p:cNvSpPr/>
          <p:nvPr/>
        </p:nvSpPr>
        <p:spPr>
          <a:xfrm>
            <a:off x="-130392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31;p5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Google Shape;34;p6"/>
          <p:cNvSpPr/>
          <p:nvPr/>
        </p:nvSpPr>
        <p:spPr>
          <a:xfrm rot="5400000">
            <a:off x="6743520" y="-20916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35;p6"/>
          <p:cNvSpPr/>
          <p:nvPr/>
        </p:nvSpPr>
        <p:spPr>
          <a:xfrm>
            <a:off x="-1335600" y="46339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3160" y="541080"/>
            <a:ext cx="3604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Google Shape;39;p7"/>
          <p:cNvSpPr/>
          <p:nvPr/>
        </p:nvSpPr>
        <p:spPr>
          <a:xfrm>
            <a:off x="-1303920" y="-614880"/>
            <a:ext cx="56217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40;p7"/>
          <p:cNvSpPr/>
          <p:nvPr/>
        </p:nvSpPr>
        <p:spPr>
          <a:xfrm>
            <a:off x="-1303920" y="4761000"/>
            <a:ext cx="56217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88160" y="1374840"/>
            <a:ext cx="6367320" cy="2393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5" name="Google Shape;43;p8"/>
          <p:cNvSpPr/>
          <p:nvPr/>
        </p:nvSpPr>
        <p:spPr>
          <a:xfrm rot="5400000">
            <a:off x="6337800" y="-212040"/>
            <a:ext cx="4186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44;p8"/>
          <p:cNvSpPr/>
          <p:nvPr/>
        </p:nvSpPr>
        <p:spPr>
          <a:xfrm rot="5400000">
            <a:off x="-1379520" y="4353480"/>
            <a:ext cx="4186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391840" y="156276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8" name="Google Shape;48;p9"/>
          <p:cNvSpPr/>
          <p:nvPr/>
        </p:nvSpPr>
        <p:spPr>
          <a:xfrm>
            <a:off x="5176080" y="420480"/>
            <a:ext cx="3155040" cy="80388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Google Shape;49;p9"/>
          <p:cNvSpPr/>
          <p:nvPr/>
        </p:nvSpPr>
        <p:spPr>
          <a:xfrm>
            <a:off x="812520" y="3918600"/>
            <a:ext cx="3155040" cy="80388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3323520"/>
            <a:ext cx="4289400" cy="123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Google Shape;52;p10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53;p10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14240" y="1133640"/>
            <a:ext cx="7714800" cy="24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300" b="0" u="none" strike="noStrike">
                <a:solidFill>
                  <a:srgbClr val="212529"/>
                </a:solidFill>
                <a:effectLst/>
                <a:uFillTx/>
                <a:latin typeface="Lexend Deca"/>
                <a:ea typeface="Lexend Deca"/>
              </a:rPr>
              <a:t>Deepfake Detection </a:t>
            </a:r>
            <a:endParaRPr lang="fr-FR" sz="5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2390760" y="3600360"/>
            <a:ext cx="4362120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CNN + LSTM based system for robust deepfake detection in video streams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07" name="Google Shape;183;p30"/>
          <p:cNvCxnSpPr/>
          <p:nvPr/>
        </p:nvCxnSpPr>
        <p:spPr>
          <a:xfrm>
            <a:off x="3017160" y="3562200"/>
            <a:ext cx="3109680" cy="360"/>
          </a:xfrm>
          <a:prstGeom prst="straightConnector1">
            <a:avLst/>
          </a:prstGeom>
          <a:ln w="38100">
            <a:solidFill>
              <a:srgbClr val="D2DAE9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390760" y="1562040"/>
            <a:ext cx="43621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Introduction 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390760" y="2362320"/>
            <a:ext cx="4362120" cy="1218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/>
          <a:p>
            <a:pPr indent="0" algn="ctr"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Deepfake refers to \u{200B}*synthetic media*\u{200B} generated using deep learning to replace or alter faces in video/audio.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This project addresses the rising threat to \u{200B}**trust and security**\u{200B} by detecting manipulated videos using a hybrid \u{200B}**CNN + LSTM**\u{200B} approach.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Speaker notes: Briefly define deepfakes, emphasize societal impact and why detection matters.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Suggested visual: Timeline or infographic showing deepfake evolution and risks.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10" name="Google Shape;231;p34"/>
          <p:cNvCxnSpPr/>
          <p:nvPr/>
        </p:nvCxnSpPr>
        <p:spPr>
          <a:xfrm>
            <a:off x="5039280" y="2325600"/>
            <a:ext cx="1017000" cy="360"/>
          </a:xfrm>
          <a:prstGeom prst="straightConnector1">
            <a:avLst/>
          </a:prstGeom>
          <a:ln w="38100">
            <a:solidFill>
              <a:srgbClr val="FFE0A7"/>
            </a:solidFill>
            <a:round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Project 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13" name="image69c10ee8d6207" descr="image69c10ee8d620c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Problem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Statement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Deepfakes enable realistic manipulations that erode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trust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, enable fraud, and spread misinformation.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Challenges include subtle spatial artifacts, temporal inconsistency, and diverse generation methods that reduce detector reliability.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Speaker notes: Highlight real-world consequences (fraud, politics) and technical detection hurdles.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Suggested visual: Example real vs fake frame comparison with noted artifacts.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Objectives &amp;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Goals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Develop a pipeline combining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CNN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for spatial feature extraction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LSTM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for temporal modeling to detect deepfakes in videos.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Aim for high accuracy, robust generalization, and real-time inference capability for viva demonstration.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Speaker notes: State measurable goals (accuracy target, latency) and evaluation plans.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Suggested visual: Block diagram showing CNN → feature sequence → LSTM → classification.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Expected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Outcomes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Deliver a working prototype that detects deepfake videos with competitive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accuracy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and low false positives.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Provide a demonstrable pipeline for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real-time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inference and clear evaluation reports for viva presentation.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0" name="image69c10ee8e6f97" descr="image69c10ee8e6f9c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Technical 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Design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3" name="image69c10ee906321" descr="image69c10ee90632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Model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Architecture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Hybrid pipeline: a CNN extracts spatial facial features, producing feature vectors per frame.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An LSTM ingests the sequence of features to model temporal inconsistencies and outputs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binary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classification (real/fake).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Methodology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Steps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Preprocess video: face detection, alignment, and frame sampling.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Train CNN on frame-level artifacts; feed sequential features to LSTM for temporal learning. Validate with cross-dataset testing and augmentations.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Evaluation </a:t>
            </a: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Metrics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Report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accuracy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, precision, recall, and F1-score for classification.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Also measure inference latency and robustness across datasets to assess generalization and real-time feasibility.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0" name="image69c10ee91755f" descr="image69c10ee917564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Lexend Deca"/>
              </a:rPr>
              <a:t>Conclusions 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The proposed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CNN + LSTM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 system balances spatial and temporal analysis to improve deepfake detection reliability.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tamaran"/>
              </a:rPr>
              <a:t>Future work includes larger datasets, model optimization for latency, and deployment as a lightweight API for practical use.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2C21-B35E-D322-93DF-383D82D2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9E8B8DC7-A4A3-7126-6AB6-7E1FBFBD3635}"/>
              </a:ext>
            </a:extLst>
          </p:cNvPr>
          <p:cNvSpPr/>
          <p:nvPr/>
        </p:nvSpPr>
        <p:spPr>
          <a:xfrm>
            <a:off x="1489354" y="1724450"/>
            <a:ext cx="5575865" cy="16945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0" b="0" u="none" strike="noStrike" dirty="0">
                <a:solidFill>
                  <a:schemeClr val="dk1"/>
                </a:solidFill>
                <a:effectLst/>
                <a:uFillTx/>
                <a:latin typeface="Lexend Deca"/>
              </a:rPr>
              <a:t>Thank You </a:t>
            </a:r>
            <a:endParaRPr lang="en-US" sz="8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815032483"/>
      </p:ext>
    </p:extLst>
  </p:cSld>
  <p:clrMapOvr>
    <a:masterClrMapping/>
  </p:clrMapOvr>
</p:sld>
</file>

<file path=ppt/theme/theme1.xml><?xml version="1.0" encoding="utf-8"?>
<a:theme xmlns:a="http://schemas.openxmlformats.org/drawingml/2006/main" name="Pastel Minimalist Elegant Lines Portfolio by Slidesgo">
  <a:themeElements>
    <a:clrScheme name="Simple Light">
      <a:dk1>
        <a:srgbClr val="191919"/>
      </a:dk1>
      <a:lt1>
        <a:srgbClr val="E7E4F1"/>
      </a:lt1>
      <a:dk2>
        <a:srgbClr val="F5F3ED"/>
      </a:dk2>
      <a:lt2>
        <a:srgbClr val="FFE0A7"/>
      </a:lt2>
      <a:accent1>
        <a:srgbClr val="F9CFD0"/>
      </a:accent1>
      <a:accent2>
        <a:srgbClr val="D9CFDE"/>
      </a:accent2>
      <a:accent3>
        <a:srgbClr val="D2DAE9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431</Words>
  <Application>Microsoft Office PowerPoint</Application>
  <PresentationFormat>On-screen Show (16:9)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Catamaran</vt:lpstr>
      <vt:lpstr>Lexend Deca</vt:lpstr>
      <vt:lpstr>OpenSymbol</vt:lpstr>
      <vt:lpstr>Symbol</vt:lpstr>
      <vt:lpstr>Wingdings</vt:lpstr>
      <vt:lpstr>Pastel Minimalist Elegant Lines Portfolio by Slidesgo</vt:lpstr>
      <vt:lpstr>Slidesgo Final Pages</vt:lpstr>
      <vt:lpstr>Deepfake Detection 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Gaur</cp:lastModifiedBy>
  <cp:revision>1</cp:revision>
  <dcterms:modified xsi:type="dcterms:W3CDTF">2026-05-01T06:01:38Z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2026-03-23T09:58:55Z</dcterms:created>
  <dc:creator>Unknown Creator</dc:creator>
  <dc:description/>
  <dc:language>en-US</dc:language>
  <cp:lastModifiedBy>Unknown Creator</cp:lastModifiedBy>
  <dcterms:modified xsi:type="dcterms:W3CDTF">2026-03-23T09:58:55Z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